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695C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929"/>
                </a:solidFill>
                <a:latin typeface="Georgia"/>
              </a:rPr>
              <a:t>Repetitive contract review, done by hand.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6576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777"/>
                </a:solidFill>
                <a:latin typeface="Calibri"/>
              </a:rPr>
              <a:t>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777"/>
                </a:solidFill>
                <a:latin typeface="Calibri"/>
              </a:rPr>
              <a:t>Contract Intelligence · Riverty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103120" cy="914400"/>
          </a:xfrm>
          <a:prstGeom prst="roundRect">
            <a:avLst>
              <a:gd name="adj" fmla="val 18000"/>
            </a:avLst>
          </a:prstGeom>
          <a:solidFill>
            <a:srgbClr val="F7F9F9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2929"/>
                </a:solidFill>
                <a:latin typeface="Calibri"/>
              </a:rPr>
              <a:t>SharePoint</a:t>
            </a:r>
          </a:p>
          <a:p>
            <a:pPr algn="ctr"/>
            <a:r>
              <a:rPr sz="1100">
                <a:solidFill>
                  <a:srgbClr val="6B7777"/>
                </a:solidFill>
                <a:latin typeface="Consolas"/>
              </a:rPr>
              <a:t>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2103120" cy="914400"/>
          </a:xfrm>
          <a:prstGeom prst="roundRect">
            <a:avLst>
              <a:gd name="adj" fmla="val 18000"/>
            </a:avLst>
          </a:prstGeom>
          <a:solidFill>
            <a:srgbClr val="F7F9F9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2929"/>
                </a:solidFill>
                <a:latin typeface="Calibri"/>
              </a:rPr>
              <a:t>Old scans</a:t>
            </a:r>
          </a:p>
          <a:p>
            <a:pPr algn="ctr"/>
            <a:r>
              <a:rPr sz="1100">
                <a:solidFill>
                  <a:srgbClr val="6B7777"/>
                </a:solidFill>
                <a:latin typeface="Consolas"/>
              </a:rPr>
              <a:t>JPEG · handwritten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2103120" cy="914400"/>
          </a:xfrm>
          <a:prstGeom prst="roundRect">
            <a:avLst>
              <a:gd name="adj" fmla="val 18000"/>
            </a:avLst>
          </a:prstGeom>
          <a:solidFill>
            <a:srgbClr val="F7F9F9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F2929"/>
                </a:solidFill>
                <a:latin typeface="Calibri"/>
              </a:rPr>
              <a:t>Contract storage</a:t>
            </a:r>
          </a:p>
          <a:p>
            <a:pPr algn="ctr"/>
            <a:r>
              <a:rPr sz="1100">
                <a:solidFill>
                  <a:srgbClr val="6B7777"/>
                </a:solidFill>
                <a:latin typeface="Consolas"/>
              </a:rPr>
              <a:t>REST · store-only copy</a:t>
            </a:r>
          </a:p>
        </p:txBody>
      </p:sp>
      <p:sp>
        <p:nvSpPr>
          <p:cNvPr id="9" name="Oval 8"/>
          <p:cNvSpPr/>
          <p:nvPr/>
        </p:nvSpPr>
        <p:spPr>
          <a:xfrm>
            <a:off x="3840480" y="1828800"/>
            <a:ext cx="3291840" cy="3291840"/>
          </a:xfrm>
          <a:prstGeom prst="ellipse">
            <a:avLst/>
          </a:prstGeom>
          <a:solidFill>
            <a:srgbClr val="FDECEA"/>
          </a:solidFill>
          <a:ln w="19050">
            <a:solidFill>
              <a:srgbClr val="C6282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663440" y="2057400"/>
            <a:ext cx="164592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C62828"/>
                </a:solidFill>
                <a:latin typeface="Calibri"/>
              </a:rPr>
              <a:t>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200400"/>
            <a:ext cx="164592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C62828"/>
                </a:solidFill>
                <a:latin typeface="Calibri"/>
              </a:rPr>
              <a:t>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343400"/>
            <a:ext cx="164592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C62828"/>
                </a:solidFill>
                <a:latin typeface="Calibri"/>
              </a:rPr>
              <a:t>verify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2606040"/>
            <a:ext cx="0" cy="594360"/>
          </a:xfrm>
          <a:prstGeom prst="line">
            <a:avLst/>
          </a:prstGeom>
          <a:ln w="19050">
            <a:solidFill>
              <a:srgbClr val="C6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3749039"/>
            <a:ext cx="0" cy="594361"/>
          </a:xfrm>
          <a:prstGeom prst="line">
            <a:avLst/>
          </a:prstGeom>
          <a:ln w="19050">
            <a:solidFill>
              <a:srgbClr val="C628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0480" y="521208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C62828"/>
                </a:solidFill>
                <a:latin typeface="Calibri"/>
              </a:rPr>
              <a:t>every contract · every question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286000"/>
            <a:ext cx="1188720" cy="640080"/>
          </a:xfrm>
          <a:prstGeom prst="line">
            <a:avLst/>
          </a:prstGeom>
          <a:ln w="190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43200" y="3474720"/>
            <a:ext cx="1097280" cy="0"/>
          </a:xfrm>
          <a:prstGeom prst="line">
            <a:avLst/>
          </a:prstGeom>
          <a:ln w="190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2103120"/>
            <a:ext cx="3474720" cy="1097280"/>
          </a:xfrm>
          <a:prstGeom prst="roundRect">
            <a:avLst>
              <a:gd name="adj" fmla="val 18000"/>
            </a:avLst>
          </a:prstGeom>
          <a:solidFill>
            <a:srgbClr val="E0F2F0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F2929"/>
                </a:solidFill>
                <a:latin typeface="Calibri"/>
              </a:rPr>
              <a:t>Which contracts lack a clause?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566160"/>
            <a:ext cx="3474720" cy="1097280"/>
          </a:xfrm>
          <a:prstGeom prst="roundRect">
            <a:avLst>
              <a:gd name="adj" fmla="val 18000"/>
            </a:avLst>
          </a:prstGeom>
          <a:solidFill>
            <a:srgbClr val="E0F2F0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F2929"/>
                </a:solidFill>
                <a:latin typeface="Calibri"/>
              </a:rPr>
              <a:t>Where is the old company name?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84632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777"/>
                </a:solidFill>
                <a:latin typeface="Calibri"/>
              </a:rPr>
              <a:t>arvato Financial Solutions → Riverty GmbH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0" y="3474720"/>
            <a:ext cx="1005840" cy="0"/>
          </a:xfrm>
          <a:prstGeom prst="line">
            <a:avLst/>
          </a:prstGeom>
          <a:ln w="190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695C"/>
                </a:solidFill>
                <a:latin typeface="Calibri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929"/>
                </a:solidFill>
                <a:latin typeface="Georgia"/>
              </a:rPr>
              <a:t>Drop a contract. Get the findings on the 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6576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777"/>
                </a:solidFill>
                <a:latin typeface="Calibri"/>
              </a:rPr>
              <a:t>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777"/>
                </a:solidFill>
                <a:latin typeface="Calibri"/>
              </a:rPr>
              <a:t>Contract Intelligence · Riverty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246120" cy="4526280"/>
          </a:xfrm>
          <a:prstGeom prst="roundRect">
            <a:avLst>
              <a:gd name="adj" fmla="val 4000"/>
            </a:avLst>
          </a:prstGeom>
          <a:solidFill>
            <a:srgbClr val="E0F2F0"/>
          </a:solidFill>
          <a:ln w="9525">
            <a:solidFill>
              <a:srgbClr val="C9D3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695C"/>
                </a:solidFill>
                <a:latin typeface="Calibri"/>
              </a:rPr>
              <a:t>READ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Read file</a:t>
            </a:r>
            <a:r>
              <a:rPr sz="900" b="0">
                <a:solidFill>
                  <a:srgbClr val="6B7777"/>
                </a:solidFill>
                <a:latin typeface="Consolas"/>
              </a:rPr>
              <a:t>   PyMuPDF · text or image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71700" y="2514600"/>
            <a:ext cx="0" cy="118872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633472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OCR</a:t>
            </a:r>
            <a:r>
              <a:rPr sz="900" b="0">
                <a:solidFill>
                  <a:srgbClr val="6B7777"/>
                </a:solidFill>
                <a:latin typeface="Consolas"/>
              </a:rPr>
              <a:t>   Tesseract → Gemini Vision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71700" y="3090672"/>
            <a:ext cx="0" cy="118872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209544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Split</a:t>
            </a:r>
            <a:r>
              <a:rPr sz="900" b="0">
                <a:solidFill>
                  <a:srgbClr val="6B7777"/>
                </a:solidFill>
                <a:latin typeface="Consolas"/>
              </a:rPr>
              <a:t>   into clauses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71700" y="3666744"/>
            <a:ext cx="0" cy="118871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785615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Label</a:t>
            </a:r>
            <a:r>
              <a:rPr sz="900" b="0">
                <a:solidFill>
                  <a:srgbClr val="6B7777"/>
                </a:solidFill>
                <a:latin typeface="Consolas"/>
              </a:rPr>
              <a:t>   12 types · rules + Flash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71700" y="4242816"/>
            <a:ext cx="0" cy="118872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4361688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Names</a:t>
            </a:r>
            <a:r>
              <a:rPr sz="900" b="0">
                <a:solidFill>
                  <a:srgbClr val="6B7777"/>
                </a:solidFill>
                <a:latin typeface="Consolas"/>
              </a:rPr>
              <a:t>   old-name register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71700" y="4818888"/>
            <a:ext cx="0" cy="118871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4937759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Screen</a:t>
            </a:r>
            <a:r>
              <a:rPr sz="900" b="0">
                <a:solidFill>
                  <a:srgbClr val="6B7777"/>
                </a:solidFill>
                <a:latin typeface="Consolas"/>
              </a:rPr>
              <a:t>   prompt injection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71700" y="5394959"/>
            <a:ext cx="0" cy="118872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5513831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Index</a:t>
            </a:r>
            <a:r>
              <a:rPr sz="900" b="0">
                <a:solidFill>
                  <a:srgbClr val="6B7777"/>
                </a:solidFill>
                <a:latin typeface="Consolas"/>
              </a:rPr>
              <a:t>   pgvector · full 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600200"/>
            <a:ext cx="3246120" cy="452628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9525">
            <a:solidFill>
              <a:srgbClr val="C9D3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691640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B26A00"/>
                </a:solidFill>
                <a:latin typeface="Calibri"/>
              </a:rPr>
              <a:t>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2057400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B26A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Rules</a:t>
            </a:r>
            <a:r>
              <a:rPr sz="900" b="0">
                <a:solidFill>
                  <a:srgbClr val="6B7777"/>
                </a:solidFill>
                <a:latin typeface="Consolas"/>
              </a:rPr>
              <a:t>   guideline × clauses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03620" y="2514600"/>
            <a:ext cx="0" cy="118872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63440" y="2633472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B26A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Cross-check</a:t>
            </a:r>
            <a:r>
              <a:rPr sz="900" b="0">
                <a:solidFill>
                  <a:srgbClr val="6B7777"/>
                </a:solidFill>
                <a:latin typeface="Consolas"/>
              </a:rPr>
              <a:t>   Gemini Pro reads it all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03620" y="3090672"/>
            <a:ext cx="0" cy="118872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663440" y="3209544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B26A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Place</a:t>
            </a:r>
            <a:r>
              <a:rPr sz="900" b="0">
                <a:solidFill>
                  <a:srgbClr val="6B7777"/>
                </a:solidFill>
                <a:latin typeface="Consolas"/>
              </a:rPr>
              <a:t>   box on the page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03620" y="3666744"/>
            <a:ext cx="0" cy="118871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663440" y="3785615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B26A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Draft</a:t>
            </a:r>
            <a:r>
              <a:rPr sz="900" b="0">
                <a:solidFill>
                  <a:srgbClr val="6B7777"/>
                </a:solidFill>
                <a:latin typeface="Consolas"/>
              </a:rPr>
              <a:t>   new name · clause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03620" y="4242816"/>
            <a:ext cx="0" cy="118872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663440" y="4361688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B26A00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Policy</a:t>
            </a:r>
            <a:r>
              <a:rPr sz="900" b="0">
                <a:solidFill>
                  <a:srgbClr val="6B7777"/>
                </a:solidFill>
                <a:latin typeface="Consolas"/>
              </a:rPr>
              <a:t>   earlier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632704"/>
            <a:ext cx="2880360" cy="49377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29"/>
                </a:solidFill>
                <a:latin typeface="Calibri"/>
              </a:rPr>
              <a:t>only the cross-check may remove a finding</a:t>
            </a:r>
          </a:p>
          <a:p>
            <a:pPr algn="l"/>
            <a:r>
              <a:rPr sz="1000" b="0">
                <a:solidFill>
                  <a:srgbClr val="1F2929"/>
                </a:solidFill>
                <a:latin typeface="Calibri"/>
              </a:rPr>
              <a:t>quote · page · reasoning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1600200"/>
            <a:ext cx="3246120" cy="452628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 w="9525">
            <a:solidFill>
              <a:srgbClr val="C9D3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1691640"/>
            <a:ext cx="2971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Calibri"/>
              </a:rPr>
              <a:t>DECIDE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59" y="2057400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Decide</a:t>
            </a:r>
            <a:r>
              <a:rPr sz="900" b="0">
                <a:solidFill>
                  <a:srgbClr val="6B7777"/>
                </a:solidFill>
                <a:latin typeface="Consolas"/>
              </a:rPr>
              <a:t>   on the PDF · accept / no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035540" y="2514600"/>
            <a:ext cx="0" cy="118872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595359" y="2633472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Corrected copy</a:t>
            </a:r>
            <a:r>
              <a:rPr sz="900" b="0">
                <a:solidFill>
                  <a:srgbClr val="6B7777"/>
                </a:solidFill>
                <a:latin typeface="Consolas"/>
              </a:rPr>
              <a:t>   original untouched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35540" y="3090672"/>
            <a:ext cx="0" cy="118872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595359" y="3209544"/>
            <a:ext cx="2880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62828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29"/>
                </a:solidFill>
                <a:latin typeface="Calibri"/>
              </a:rPr>
              <a:t>Store</a:t>
            </a:r>
            <a:r>
              <a:rPr sz="900" b="0">
                <a:solidFill>
                  <a:srgbClr val="6B7777"/>
                </a:solidFill>
                <a:latin typeface="Consolas"/>
              </a:rPr>
              <a:t>   REST · idempotent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59" y="5431536"/>
            <a:ext cx="2880360" cy="6949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29"/>
                </a:solidFill>
                <a:latin typeface="Calibri"/>
              </a:rPr>
              <a:t>decisions are remembered:</a:t>
            </a:r>
          </a:p>
          <a:p>
            <a:pPr algn="l"/>
            <a:r>
              <a:rPr sz="1000" b="0">
                <a:solidFill>
                  <a:srgbClr val="1F2929"/>
                </a:solidFill>
                <a:latin typeface="Calibri"/>
              </a:rPr>
              <a:t>same file → carried over</a:t>
            </a:r>
          </a:p>
          <a:p>
            <a:pPr algn="l"/>
            <a:r>
              <a:rPr sz="1000" b="0">
                <a:solidFill>
                  <a:srgbClr val="1F2929"/>
                </a:solidFill>
                <a:latin typeface="Calibri"/>
              </a:rPr>
              <a:t>same kind → fewer checks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794760" y="3291840"/>
            <a:ext cx="685800" cy="0"/>
          </a:xfrm>
          <a:prstGeom prst="line">
            <a:avLst/>
          </a:prstGeom>
          <a:ln w="28575">
            <a:solidFill>
              <a:srgbClr val="1F29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26679" y="3291840"/>
            <a:ext cx="685801" cy="0"/>
          </a:xfrm>
          <a:prstGeom prst="line">
            <a:avLst/>
          </a:prstGeom>
          <a:ln w="28575">
            <a:solidFill>
              <a:srgbClr val="1F292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0695C"/>
                </a:solidFill>
                <a:latin typeface="Calibri"/>
              </a:rPr>
              <a:t>THE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2929"/>
                </a:solidFill>
                <a:latin typeface="Georgia"/>
              </a:rPr>
              <a:t>Best-of-breed today, Microsoft behind one switch.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6576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777"/>
                </a:solidFill>
                <a:latin typeface="Calibri"/>
              </a:rPr>
              <a:t>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6B7777"/>
                </a:solidFill>
                <a:latin typeface="Calibri"/>
              </a:rPr>
              <a:t>Contract Intelligence · Riverty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00695C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Front-end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600200"/>
            <a:ext cx="2432304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React + 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46904" y="1600200"/>
            <a:ext cx="786384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MUI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0008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00695C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350008"/>
            <a:ext cx="2212848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Python ·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2350008"/>
            <a:ext cx="2761488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LangChain + LangGraph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6096" y="2350008"/>
            <a:ext cx="2542032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PyMuPDF · Tesseract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99815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00695C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3099815"/>
            <a:ext cx="5833872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Gemini 3.x  Pro · Flash · Flash-Lite ·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99815"/>
            <a:ext cx="3383280" cy="640080"/>
          </a:xfrm>
          <a:prstGeom prst="roundRect">
            <a:avLst>
              <a:gd name="adj" fmla="val 18000"/>
            </a:avLst>
          </a:prstGeom>
          <a:solidFill>
            <a:srgbClr val="F7F9F9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0">
                <a:solidFill>
                  <a:srgbClr val="6B7777"/>
                </a:solidFill>
                <a:latin typeface="Calibri"/>
              </a:rPr>
              <a:t>Azure Foundry · Document Intelligence</a:t>
            </a:r>
          </a:p>
          <a:p>
            <a:pPr algn="ctr"/>
            <a:r>
              <a:rPr sz="800">
                <a:solidFill>
                  <a:srgbClr val="6B7777"/>
                </a:solidFill>
                <a:latin typeface="Consolas"/>
              </a:rPr>
              <a:t>LLM_PROVIDER=foundry · OCR_PROVIDER=document_intelligence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18120" y="3419856"/>
            <a:ext cx="411480" cy="0"/>
          </a:xfrm>
          <a:prstGeom prst="line">
            <a:avLst/>
          </a:prstGeom>
          <a:ln w="12700">
            <a:solidFill>
              <a:srgbClr val="6B77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3849624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00695C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3849624"/>
            <a:ext cx="2761488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PostgreSQL + pgvector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76088" y="3849624"/>
            <a:ext cx="210312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full-text 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99432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00695C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4599432"/>
            <a:ext cx="3090672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SharePoint (Graph delta)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5272" y="4599432"/>
            <a:ext cx="3200400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Contract storage REST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4924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00695C"/>
          </a:solidFill>
          <a:ln w="15875">
            <a:solidFill>
              <a:srgbClr val="00695C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Infra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5349240"/>
            <a:ext cx="3639312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Docker · Azure Container Apps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5349240"/>
            <a:ext cx="3968496" cy="6400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C9D3D2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1F2929"/>
                </a:solidFill>
                <a:latin typeface="Calibri"/>
              </a:rPr>
              <a:t>Terraform · Key Vault · Entra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777"/>
                </a:solidFill>
                <a:latin typeface="Calibri"/>
              </a:rPr>
              <a:t>one routing table: task → model tier → thinking level  ·  same code path for Gemini and Azure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