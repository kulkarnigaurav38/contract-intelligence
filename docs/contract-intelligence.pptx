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0695C"/>
                </a:solidFill>
                <a:latin typeface="Roboto"/>
              </a:rPr>
              <a:t>RIVERTY · SOFTWARE ENGINEER (RAG)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Roboto"/>
              </a:rPr>
              <a:t>Contract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Contract Intelligence · Riverty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Roboto"/>
              </a:rPr>
              <a:t>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91440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Roboto"/>
              </a:rPr>
              <a:t>Which contracts lack a clause the guideline requires?</a:t>
            </a:r>
          </a:p>
          <a:p>
            <a:pPr algn="l"/>
            <a:r>
              <a:rPr sz="2200" b="0" i="0">
                <a:solidFill>
                  <a:srgbClr val="212121"/>
                </a:solidFill>
                <a:latin typeface="Roboto"/>
              </a:rPr>
              <a:t>Which still name the company by its old name?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Roboto"/>
              </a:rPr>
              <a:t>A knowledge-graph pipeline that finds, a strong model that verifies, a lawyer who decides — on the PDF itself.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49039"/>
            <a:ext cx="2414015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212121"/>
                </a:solidFill>
                <a:latin typeface="Roboto"/>
              </a:rPr>
              <a:t>SharePoint · upload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0944" y="3776472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Robot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82696" y="3749039"/>
            <a:ext cx="905256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212121"/>
                </a:solidFill>
                <a:latin typeface="Roboto"/>
              </a:rPr>
              <a:t>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776472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Robot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3749039"/>
            <a:ext cx="1609344" cy="384048"/>
          </a:xfrm>
          <a:prstGeom prst="roundRect">
            <a:avLst>
              <a:gd name="adj" fmla="val 23809"/>
            </a:avLst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Roboto"/>
              </a:rPr>
              <a:t>Neo4j 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4" y="3776472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Robot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37376" y="3749039"/>
            <a:ext cx="1005840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212121"/>
                </a:solidFill>
                <a:latin typeface="Roboto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1503" y="3776472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Robot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63255" y="3749039"/>
            <a:ext cx="1106424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212121"/>
                </a:solidFill>
                <a:latin typeface="Roboto"/>
              </a:rPr>
              <a:t>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3776472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Roboto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19" y="3749039"/>
            <a:ext cx="2112264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212121"/>
                </a:solidFill>
                <a:latin typeface="Roboto"/>
              </a:rPr>
              <a:t>Contract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206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Roboto"/>
              </a:rPr>
              <a:t>Gaurav Kulkarni · September 2026 · 10 minutes, then 5 minutes live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0695C"/>
                </a:solidFill>
                <a:latin typeface="Robot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Roboto"/>
              </a:rPr>
              <a:t>Open · search · verify — by hand, 15,000 times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Contract Intelligence · Riverty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Roboto"/>
              </a:rPr>
              <a:t>2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74320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212121"/>
                </a:solidFill>
                <a:latin typeface="Roboto"/>
              </a:rPr>
              <a:t>SharePoint</a:t>
            </a:r>
          </a:p>
          <a:p>
            <a:pPr algn="l"/>
            <a:r>
              <a:rPr sz="1000" b="0" i="0">
                <a:solidFill>
                  <a:srgbClr val="6B6B6B"/>
                </a:solidFill>
                <a:latin typeface="Roboto"/>
              </a:rPr>
              <a:t>most contracts, PDF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23160"/>
            <a:ext cx="274320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212121"/>
                </a:solidFill>
                <a:latin typeface="Roboto"/>
              </a:rPr>
              <a:t>Scans</a:t>
            </a:r>
          </a:p>
          <a:p>
            <a:pPr algn="l"/>
            <a:r>
              <a:rPr sz="1000" b="0" i="0">
                <a:solidFill>
                  <a:srgbClr val="6B6B6B"/>
                </a:solidFill>
                <a:latin typeface="Roboto"/>
              </a:rPr>
              <a:t>no text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39"/>
            <a:ext cx="274320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212121"/>
                </a:solidFill>
                <a:latin typeface="Roboto"/>
              </a:rPr>
              <a:t>Handwritten JPEGs</a:t>
            </a:r>
          </a:p>
          <a:p>
            <a:pPr algn="l"/>
            <a:r>
              <a:rPr sz="1000" b="0" i="0">
                <a:solidFill>
                  <a:srgbClr val="6B6B6B"/>
                </a:solidFill>
                <a:latin typeface="Roboto"/>
              </a:rPr>
              <a:t>really old contracts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60520"/>
            <a:ext cx="274320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212121"/>
                </a:solidFill>
                <a:latin typeface="Roboto"/>
              </a:rPr>
              <a:t>Contract storage</a:t>
            </a:r>
          </a:p>
          <a:p>
            <a:pPr algn="l"/>
            <a:r>
              <a:rPr sz="1000" b="0" i="0">
                <a:solidFill>
                  <a:srgbClr val="6B6B6B"/>
                </a:solidFill>
                <a:latin typeface="Roboto"/>
              </a:rPr>
              <a:t>REST · store a copy 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554480"/>
            <a:ext cx="39319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212121"/>
                </a:solidFill>
                <a:latin typeface="Roboto"/>
              </a:rPr>
              <a:t>Which contracts do NOT contain passage X?</a:t>
            </a:r>
          </a:p>
          <a:p>
            <a:pPr algn="l"/>
            <a:r>
              <a:rPr sz="1000" b="0" i="0">
                <a:solidFill>
                  <a:srgbClr val="00695C"/>
                </a:solidFill>
                <a:latin typeface="Roboto"/>
              </a:rPr>
              <a:t>QUESTION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39319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212121"/>
                </a:solidFill>
                <a:latin typeface="Roboto"/>
              </a:rPr>
              <a:t>Which contracts still name the OLD company?</a:t>
            </a:r>
          </a:p>
          <a:p>
            <a:pPr algn="l"/>
            <a:r>
              <a:rPr sz="1000" b="0" i="0">
                <a:solidFill>
                  <a:srgbClr val="D32F2F"/>
                </a:solidFill>
                <a:latin typeface="Roboto"/>
              </a:rPr>
              <a:t>QUESTION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880360"/>
            <a:ext cx="8046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94436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Roboto"/>
              </a:rPr>
              <a:t>Today, per contract and question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342900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212121"/>
                </a:solidFill>
                <a:latin typeface="Roboto"/>
              </a:rPr>
              <a:t>open the PDF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35040" y="3703320"/>
            <a:ext cx="50292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537960" y="342900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212121"/>
                </a:solidFill>
                <a:latin typeface="Roboto"/>
              </a:rPr>
              <a:t>search, in two languages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41080" y="3703320"/>
            <a:ext cx="50292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44000" y="342900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212121"/>
                </a:solidFill>
                <a:latin typeface="Roboto"/>
              </a:rPr>
              <a:t>verify yourself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424160" y="3703320"/>
            <a:ext cx="640080" cy="0"/>
          </a:xfrm>
          <a:prstGeom prst="line">
            <a:avLst/>
          </a:prstGeom>
          <a:ln w="1905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1064240" y="3200400"/>
            <a:ext cx="0" cy="502920"/>
          </a:xfrm>
          <a:prstGeom prst="line">
            <a:avLst/>
          </a:prstGeom>
          <a:ln w="1905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983480" y="3200400"/>
            <a:ext cx="6080760" cy="0"/>
          </a:xfrm>
          <a:prstGeom prst="line">
            <a:avLst/>
          </a:prstGeom>
          <a:ln w="1905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3480" y="3200400"/>
            <a:ext cx="0" cy="228600"/>
          </a:xfrm>
          <a:prstGeom prst="line">
            <a:avLst/>
          </a:prstGeom>
          <a:ln w="1905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966960" y="2907792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1" i="0">
                <a:solidFill>
                  <a:srgbClr val="00695C"/>
                </a:solidFill>
                <a:latin typeface="Roboto"/>
              </a:rPr>
              <a:t>× 15,000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206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Roboto"/>
              </a:rPr>
              <a:t>≈ 15 min · scans 20–40 · handwriting 30–60 or skipped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5120640"/>
            <a:ext cx="8046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Roboto"/>
              </a:rPr>
              <a:t>“Agents like Claude often fail due to the sheer size and complexity of the environments” — so this is not an agent. It is a pipeline with model nodes.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0695C"/>
                </a:solidFill>
                <a:latin typeface="Roboto"/>
              </a:rPr>
              <a:t>THE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Roboto"/>
              </a:rPr>
              <a:t>How much work is it — and what does it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Contract Intelligence · Riverty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Roboto"/>
              </a:rPr>
              <a:t>3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97480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0876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0695C"/>
                </a:solidFill>
                <a:latin typeface="Roboto"/>
              </a:rPr>
              <a:t>15,000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6596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Roboto"/>
              </a:rPr>
              <a:t>active contracts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12848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1,800 merchants × ~3 docs, vendors, mandates, NDAs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63040"/>
            <a:ext cx="2697480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50876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0695C"/>
                </a:solidFill>
                <a:latin typeface="Roboto"/>
              </a:rPr>
              <a:t>40,000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196596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Roboto"/>
              </a:rPr>
              <a:t>documents in the archive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2212848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incl. arvato · infoscore · AfterPay entities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63040"/>
            <a:ext cx="2697480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50876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0695C"/>
                </a:solidFill>
                <a:latin typeface="Roboto"/>
              </a:rPr>
              <a:t>12–20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96596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Roboto"/>
              </a:rPr>
              <a:t>new contracts per 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212848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20–30 % of the stock turns over a year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1463040"/>
            <a:ext cx="2697480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2288" y="150876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0695C"/>
                </a:solidFill>
                <a:latin typeface="Roboto"/>
              </a:rPr>
              <a:t>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196596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Roboto"/>
              </a:rPr>
              <a:t>sweeps a year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2212848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rebrand 2022–23 · the bank 2026 · DORA · a guideline change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26080"/>
            <a:ext cx="6400800" cy="260604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999232"/>
            <a:ext cx="5943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12121"/>
                </a:solidFill>
                <a:latin typeface="Roboto"/>
              </a:rPr>
              <a:t>Rename sweep over 15,000 contracts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291840"/>
            <a:ext cx="2743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Roboto"/>
              </a:rPr>
              <a:t>manual · 15 min each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47872"/>
            <a:ext cx="6035040" cy="256032"/>
          </a:xfrm>
          <a:prstGeom prst="roundRect">
            <a:avLst>
              <a:gd name="adj" fmla="val 21428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3547872"/>
            <a:ext cx="6035040" cy="256032"/>
          </a:xfrm>
          <a:prstGeom prst="roundRect">
            <a:avLst>
              <a:gd name="adj" fmla="val 21428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840480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Roboto"/>
              </a:rPr>
              <a:t>3,750 h ≈ 2.3 FTE-years ≈ €340k        5 people · 5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43400"/>
            <a:ext cx="32004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Roboto"/>
              </a:rPr>
              <a:t>with the tool · 3 min per finding, spot checks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599432"/>
            <a:ext cx="6035040" cy="256032"/>
          </a:xfrm>
          <a:prstGeom prst="roundRect">
            <a:avLst>
              <a:gd name="adj" fmla="val 21428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" y="4599432"/>
            <a:ext cx="422452" cy="256032"/>
          </a:xfrm>
          <a:prstGeom prst="roundRect">
            <a:avLst>
              <a:gd name="adj" fmla="val 21428"/>
            </a:avLst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92040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Roboto"/>
              </a:rPr>
              <a:t>250 h lawyer time + €900 model calls        1–2 weeks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0" y="2926080"/>
            <a:ext cx="4480560" cy="260604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9480" y="2999232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12121"/>
                </a:solidFill>
                <a:latin typeface="Roboto"/>
              </a:rPr>
              <a:t>Daily flow · 15 contracts a 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3291840"/>
            <a:ext cx="2743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Roboto"/>
              </a:rPr>
              <a:t>manual · 45–60 min each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69480" y="3547872"/>
            <a:ext cx="4206240" cy="256032"/>
          </a:xfrm>
          <a:prstGeom prst="roundRect">
            <a:avLst>
              <a:gd name="adj" fmla="val 21428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69480" y="3547872"/>
            <a:ext cx="4206240" cy="256032"/>
          </a:xfrm>
          <a:prstGeom prst="roundRect">
            <a:avLst>
              <a:gd name="adj" fmla="val 21428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69480" y="384048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Roboto"/>
              </a:rPr>
              <a:t>1.6 FTE ≈ €240k a year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343400"/>
            <a:ext cx="2743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Roboto"/>
              </a:rPr>
              <a:t>with the tool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69480" y="4599432"/>
            <a:ext cx="4206240" cy="256032"/>
          </a:xfrm>
          <a:prstGeom prst="roundRect">
            <a:avLst>
              <a:gd name="adj" fmla="val 21428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269480" y="4599432"/>
            <a:ext cx="504748" cy="256032"/>
          </a:xfrm>
          <a:prstGeom prst="roundRect">
            <a:avLst>
              <a:gd name="adj" fmla="val 21428"/>
            </a:avLst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69480" y="489204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Roboto"/>
              </a:rPr>
              <a:t>0.2 FTE + €250 model + €3k infrastructure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Roboto"/>
              </a:rPr>
              <a:t>Gemini 3.1 Pro $2 / $12 per 1M tokens → ≈ $0.06–0.10 per contract. The tool costs ~1 % of the lawyer time it replaces; the time that remains is the part only a lawyer can do. Estimates: docs/cost-benefit.md.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0695C"/>
                </a:solidFill>
                <a:latin typeface="Roboto"/>
              </a:rPr>
              <a:t>THOUGHT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Roboto"/>
              </a:rPr>
              <a:t>Retrieval finds what is there. It cannot prove what is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Contract Intelligence · Riverty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Roboto"/>
              </a:rPr>
              <a:t>4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394960" cy="251460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572768"/>
            <a:ext cx="859536" cy="274320"/>
          </a:xfrm>
          <a:prstGeom prst="roundRect">
            <a:avLst>
              <a:gd name="adj" fmla="val 50000"/>
            </a:avLst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455A64"/>
                </a:solidFill>
                <a:latin typeface="Roboto"/>
              </a:rPr>
              <a:t>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141732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212121"/>
                </a:solidFill>
                <a:latin typeface="Roboto"/>
              </a:rPr>
              <a:t>chunks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40280" y="2194560"/>
            <a:ext cx="27432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14600" y="1965960"/>
            <a:ext cx="141732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212121"/>
                </a:solidFill>
                <a:latin typeface="Roboto"/>
              </a:rPr>
              <a:t>similarity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31920" y="2194560"/>
            <a:ext cx="27432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206240" y="1965960"/>
            <a:ext cx="141732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212121"/>
                </a:solidFill>
                <a:latin typeface="Roboto"/>
              </a:rPr>
              <a:t>top-k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06040"/>
            <a:ext cx="5029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00" b="0" i="0">
                <a:solidFill>
                  <a:srgbClr val="D32F2F"/>
                </a:solidFill>
                <a:latin typeface="Roboto"/>
              </a:rPr>
              <a:t>“nothing similar above 0.6” … is that absence?  →  a guess with a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5029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00" b="0" i="0">
                <a:solidFill>
                  <a:srgbClr val="D32F2F"/>
                </a:solidFill>
                <a:latin typeface="Roboto"/>
              </a:rPr>
              <a:t>“Arvato Systems” ≈ “Arvato Payment Solutions” to a vector  →  identity is not similarity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37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950" b="0" i="0">
                <a:solidFill>
                  <a:srgbClr val="6B6B6B"/>
                </a:solidFill>
                <a:latin typeface="Roboto"/>
              </a:rPr>
              <a:t>an agent that opens and searches for itself fails in a big, messy environment — the statement says 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394960" cy="251460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254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1572768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0695C"/>
                </a:solidFill>
                <a:latin typeface="Roboto"/>
              </a:rPr>
              <a:t>structure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1965960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12121"/>
                </a:solidFill>
                <a:latin typeface="Roboto"/>
              </a:rPr>
              <a:t>clauses, typed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46720" y="2194560"/>
            <a:ext cx="137159" cy="0"/>
          </a:xfrm>
          <a:prstGeom prst="line">
            <a:avLst/>
          </a:prstGeom>
          <a:ln w="1905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83879" y="1965960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12121"/>
                </a:solidFill>
                <a:latin typeface="Roboto"/>
              </a:rPr>
              <a:t>guideline REQUIRES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84080" y="2194560"/>
            <a:ext cx="137160" cy="0"/>
          </a:xfrm>
          <a:prstGeom prst="line">
            <a:avLst/>
          </a:prstGeom>
          <a:ln w="1905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921240" y="1965960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Roboto"/>
              </a:rPr>
              <a:t>absence = lookup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2606040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12121"/>
                </a:solidFill>
                <a:latin typeface="Roboto"/>
              </a:rPr>
              <a:t>register (GLEIF)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46720" y="2834640"/>
            <a:ext cx="137159" cy="0"/>
          </a:xfrm>
          <a:prstGeom prst="line">
            <a:avLst/>
          </a:prstGeom>
          <a:ln w="1905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83879" y="2606040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12121"/>
                </a:solidFill>
                <a:latin typeface="Roboto"/>
              </a:rPr>
              <a:t>RENAMED_TO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84080" y="2834640"/>
            <a:ext cx="137160" cy="0"/>
          </a:xfrm>
          <a:prstGeom prst="line">
            <a:avLst/>
          </a:prstGeom>
          <a:ln w="1905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921240" y="2606040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Roboto"/>
              </a:rPr>
              <a:t>identity = edge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24612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00695C"/>
                </a:solidFill>
                <a:latin typeface="Roboto"/>
              </a:rPr>
              <a:t>rules FIND (recall)  →  a model VERIFIES (precision)  →  a person DECIDES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160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12121"/>
                </a:solidFill>
                <a:latin typeface="Roboto"/>
              </a:rPr>
              <a:t>Four versions in ten days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2960" y="4663440"/>
            <a:ext cx="10515600" cy="0"/>
          </a:xfrm>
          <a:prstGeom prst="line">
            <a:avLst/>
          </a:prstGeom>
          <a:ln w="3810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755648" y="4544568"/>
            <a:ext cx="237744" cy="2377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937760"/>
            <a:ext cx="2697480" cy="1325880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983480"/>
            <a:ext cx="25146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00695C"/>
                </a:solidFill>
                <a:latin typeface="Roboto"/>
              </a:rPr>
              <a:t>26–27 Aug · v1 workbench</a:t>
            </a:r>
          </a:p>
          <a:p>
            <a:pPr algn="l"/>
            <a:r>
              <a:rPr sz="900" b="0" i="0">
                <a:solidFill>
                  <a:srgbClr val="212121"/>
                </a:solidFill>
                <a:latin typeface="Roboto"/>
              </a:rPr>
              <a:t>question cards, matrix, review queue, chat — every feature defensible, the sum not what a legal team reaches for: cut</a:t>
            </a:r>
          </a:p>
        </p:txBody>
      </p:sp>
      <p:sp>
        <p:nvSpPr>
          <p:cNvPr id="34" name="Oval 33"/>
          <p:cNvSpPr/>
          <p:nvPr/>
        </p:nvSpPr>
        <p:spPr>
          <a:xfrm>
            <a:off x="4590288" y="4544568"/>
            <a:ext cx="237744" cy="2377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83280" y="4937760"/>
            <a:ext cx="2697480" cy="1325880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0" y="4983480"/>
            <a:ext cx="25146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00695C"/>
                </a:solidFill>
                <a:latin typeface="Roboto"/>
              </a:rPr>
              <a:t>29 Aug · v2 file converter</a:t>
            </a:r>
          </a:p>
          <a:p>
            <a:pPr algn="l"/>
            <a:r>
              <a:rPr sz="900" b="0" i="0">
                <a:solidFill>
                  <a:srgbClr val="212121"/>
                </a:solidFill>
                <a:latin typeface="Roboto"/>
              </a:rPr>
              <a:t>drop in → one result line → findings on the PDF → corrected copy: lawyers trust what they see on the page</a:t>
            </a:r>
          </a:p>
        </p:txBody>
      </p:sp>
      <p:sp>
        <p:nvSpPr>
          <p:cNvPr id="37" name="Oval 36"/>
          <p:cNvSpPr/>
          <p:nvPr/>
        </p:nvSpPr>
        <p:spPr>
          <a:xfrm>
            <a:off x="7424927" y="4544568"/>
            <a:ext cx="237744" cy="2377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17920" y="4937760"/>
            <a:ext cx="2697480" cy="1325880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59" y="4983480"/>
            <a:ext cx="25146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00695C"/>
                </a:solidFill>
                <a:latin typeface="Roboto"/>
              </a:rPr>
              <a:t>5 Sep · v3 knowledge graph</a:t>
            </a:r>
          </a:p>
          <a:p>
            <a:pPr algn="l"/>
            <a:r>
              <a:rPr sz="900" b="0" i="0">
                <a:solidFill>
                  <a:srgbClr val="212121"/>
                </a:solidFill>
                <a:latin typeface="Roboto"/>
              </a:rPr>
              <a:t>Neo4j as the RAG store beside Postgres; register from GLEIF; the models read the graph’s selection</a:t>
            </a:r>
          </a:p>
        </p:txBody>
      </p:sp>
      <p:sp>
        <p:nvSpPr>
          <p:cNvPr id="40" name="Oval 39"/>
          <p:cNvSpPr/>
          <p:nvPr/>
        </p:nvSpPr>
        <p:spPr>
          <a:xfrm>
            <a:off x="10259568" y="4544568"/>
            <a:ext cx="237744" cy="237744"/>
          </a:xfrm>
          <a:prstGeom prst="ellipse">
            <a:avLst/>
          </a:prstGeom>
          <a:solidFill>
            <a:srgbClr val="00695C"/>
          </a:solidFill>
          <a:ln w="317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052560" y="4937760"/>
            <a:ext cx="2697480" cy="1325880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254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4983480"/>
            <a:ext cx="25146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00695C"/>
                </a:solidFill>
                <a:latin typeface="Roboto"/>
              </a:rPr>
              <a:t>5 Sep · v4 graph only</a:t>
            </a:r>
          </a:p>
          <a:p>
            <a:pPr algn="l"/>
            <a:r>
              <a:rPr sz="900" b="0" i="0">
                <a:solidFill>
                  <a:srgbClr val="212121"/>
                </a:solidFill>
                <a:latin typeface="Roboto"/>
              </a:rPr>
              <a:t>Neo4j the sole database; scoped-then-full verification; three steps + a Technik page: one system, precision restored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0695C"/>
                </a:solidFill>
                <a:latin typeface="Roboto"/>
              </a:rPr>
              <a:t>THE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Roboto"/>
              </a:rPr>
              <a:t>One contract, end to end — 14 stages, three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Contract Intelligence · Riverty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Roboto"/>
              </a:rPr>
              <a:t>5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88920"/>
            <a:ext cx="12344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SharePoint</a:t>
            </a:r>
          </a:p>
          <a:p>
            <a:pPr algn="ctr"/>
            <a:r>
              <a:rPr sz="900" b="0" i="0">
                <a:solidFill>
                  <a:srgbClr val="6B6B6B"/>
                </a:solidFill>
                <a:latin typeface="Roboto"/>
              </a:rPr>
              <a:t>upload · delta sync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83080" y="3154680"/>
            <a:ext cx="32004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03120" y="1463040"/>
            <a:ext cx="2834640" cy="3931920"/>
          </a:xfrm>
          <a:prstGeom prst="roundRect">
            <a:avLst>
              <a:gd name="adj" fmla="val 387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1536192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00695C"/>
                </a:solidFill>
                <a:latin typeface="Roboto"/>
              </a:rPr>
              <a:t>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1874519"/>
            <a:ext cx="246888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load · text layer or page image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2359152"/>
            <a:ext cx="246888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ocr · Tesseract → Gemini vision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2843784"/>
            <a:ext cx="246888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segment · clauses by structure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3328415"/>
            <a:ext cx="246888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classify · keywords + Flash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3813048"/>
            <a:ext cx="246888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entities · register + GLEIF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4297680"/>
            <a:ext cx="246888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screen · injection guard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4782312"/>
            <a:ext cx="246888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embed · vector + full-text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37760" y="3154680"/>
            <a:ext cx="36576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03520" y="2331720"/>
            <a:ext cx="1920240" cy="1645920"/>
          </a:xfrm>
          <a:prstGeom prst="roundRect">
            <a:avLst>
              <a:gd name="adj" fmla="val 6666"/>
            </a:avLst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Roboto"/>
              </a:rPr>
              <a:t>Neo4j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Roboto"/>
              </a:rPr>
              <a:t>contracts · clauses · names
guideline · register · decisions
vector + full-text index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223760" y="3154680"/>
            <a:ext cx="36576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589520" y="1463040"/>
            <a:ext cx="274320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1536192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00695C"/>
                </a:solidFill>
                <a:latin typeface="Roboto"/>
              </a:rPr>
              <a:t>CHECK · LangGraph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1874519"/>
            <a:ext cx="237744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rules · guideline gaps, old names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2359152"/>
            <a:ext cx="237744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cross_check · Pro, two reads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2843784"/>
            <a:ext cx="237744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place · box on the page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3328415"/>
            <a:ext cx="237744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draft · name or clause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3813048"/>
            <a:ext cx="237744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policy · carry-over, spot checks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332720" y="3154680"/>
            <a:ext cx="32004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0652760" y="2331720"/>
            <a:ext cx="1051560" cy="1645920"/>
          </a:xfrm>
          <a:prstGeom prst="roundRect">
            <a:avLst>
              <a:gd name="adj" fmla="val 10434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52760" y="2395728"/>
            <a:ext cx="1051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00695C"/>
                </a:solidFill>
                <a:latin typeface="Roboto"/>
              </a:rPr>
              <a:t>DECIDE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2743200"/>
            <a:ext cx="86868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decide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744200" y="3246120"/>
            <a:ext cx="868680" cy="384048"/>
          </a:xfrm>
          <a:prstGeom prst="roundRect">
            <a:avLst>
              <a:gd name="adj" fmla="val 28571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212121"/>
                </a:solidFill>
                <a:latin typeface="Roboto"/>
              </a:rPr>
              <a:t>correct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173968" y="3977639"/>
            <a:ext cx="0" cy="457201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561320" y="4434840"/>
            <a:ext cx="1234440" cy="594360"/>
          </a:xfrm>
          <a:prstGeom prst="roundRect">
            <a:avLst>
              <a:gd name="adj" fmla="val 18461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12121"/>
                </a:solidFill>
                <a:latin typeface="Roboto"/>
              </a:rPr>
              <a:t>contract storage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961120" y="5394960"/>
            <a:ext cx="0" cy="365760"/>
          </a:xfrm>
          <a:prstGeom prst="line">
            <a:avLst/>
          </a:prstGeom>
          <a:ln w="19050">
            <a:solidFill>
              <a:srgbClr val="00695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6263640" y="5760720"/>
            <a:ext cx="2697480" cy="0"/>
          </a:xfrm>
          <a:prstGeom prst="line">
            <a:avLst/>
          </a:prstGeom>
          <a:ln w="19050">
            <a:solidFill>
              <a:srgbClr val="00695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263640" y="3977639"/>
            <a:ext cx="0" cy="1783081"/>
          </a:xfrm>
          <a:prstGeom prst="line">
            <a:avLst/>
          </a:prstGeom>
          <a:ln w="19050">
            <a:solidFill>
              <a:srgbClr val="00695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00800" y="580644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decisions become precedents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Roboto"/>
              </a:rPr>
              <a:t>So funktioniert es and Technik render this same stage list from GET /api/pipeline — the explanation cannot drift from the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0695C"/>
                </a:solidFill>
                <a:latin typeface="Roboto"/>
              </a:rPr>
              <a:t>THE 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Roboto"/>
              </a:rPr>
              <a:t>The database is the knowledge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Contract Intelligence · Riverty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Roboto"/>
              </a:rPr>
              <a:t>6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2307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54680" y="2880360"/>
            <a:ext cx="1737360" cy="566928"/>
          </a:xfrm>
          <a:prstGeom prst="roundRect">
            <a:avLst>
              <a:gd name="adj" fmla="val 50000"/>
            </a:avLst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Roboto"/>
              </a:rPr>
              <a:t>Contract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783080"/>
            <a:ext cx="1737360" cy="566928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ContractType</a:t>
            </a:r>
          </a:p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merchant agreement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1783080"/>
            <a:ext cx="1737360" cy="566928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ClauseType</a:t>
            </a:r>
          </a:p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liability_cap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2880360"/>
            <a:ext cx="1737360" cy="566928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 w="317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ClauseType</a:t>
            </a:r>
          </a:p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anti_corruption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3977639"/>
            <a:ext cx="173736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Clause</a:t>
            </a:r>
          </a:p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§ 4 · vector · 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880360"/>
            <a:ext cx="173736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Entity</a:t>
            </a:r>
          </a:p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Arvato Payment Sol. GmbH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977639"/>
            <a:ext cx="1737360" cy="566928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Entity</a:t>
            </a:r>
          </a:p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Riverty GmbH · LEI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023360" y="2350008"/>
            <a:ext cx="0" cy="530352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069080" y="2459736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OF_TYPE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92040" y="2066543"/>
            <a:ext cx="59436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937759" y="1773935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REQUIRES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120640" y="2066543"/>
            <a:ext cx="0" cy="1097281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20640" y="3163824"/>
            <a:ext cx="36576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560320" y="3163824"/>
            <a:ext cx="59436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606039" y="2871216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MENTIONS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91640" y="3447288"/>
            <a:ext cx="0" cy="530351"/>
          </a:xfrm>
          <a:prstGeom prst="line">
            <a:avLst/>
          </a:prstGeom>
          <a:ln w="1905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737360" y="3557016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00695C"/>
                </a:solidFill>
                <a:latin typeface="Roboto"/>
              </a:rPr>
              <a:t>RENAMED_TO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23360" y="3447288"/>
            <a:ext cx="0" cy="530351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069080" y="3557016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HAS_CLAUSE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2040" y="4261103"/>
            <a:ext cx="2560320" cy="0"/>
          </a:xfrm>
          <a:prstGeom prst="line">
            <a:avLst/>
          </a:prstGeom>
          <a:ln w="1905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7452360" y="2066543"/>
            <a:ext cx="0" cy="2194560"/>
          </a:xfrm>
          <a:prstGeom prst="line">
            <a:avLst/>
          </a:prstGeom>
          <a:ln w="1905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7223760" y="2066543"/>
            <a:ext cx="228600" cy="0"/>
          </a:xfrm>
          <a:prstGeom prst="line">
            <a:avLst/>
          </a:prstGeom>
          <a:ln w="1905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498080" y="2249424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00695C"/>
                </a:solidFill>
                <a:latin typeface="Roboto"/>
              </a:rPr>
              <a:t>IS_A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223760" y="3163824"/>
            <a:ext cx="228600" cy="0"/>
          </a:xfrm>
          <a:prstGeom prst="line">
            <a:avLst/>
          </a:prstGeom>
          <a:ln w="19050">
            <a:solidFill>
              <a:srgbClr val="D32F2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03520" y="3493008"/>
            <a:ext cx="2194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00" b="1" i="0">
                <a:solidFill>
                  <a:srgbClr val="D32F2F"/>
                </a:solidFill>
                <a:latin typeface="Roboto"/>
              </a:rPr>
              <a:t>no IS_A path → the gap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892040"/>
            <a:ext cx="71323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Roboto"/>
              </a:rPr>
              <a:t>(Decision)-[:ON]-&gt;(Contract), (Decision)-[:ABOUT]-&gt;(ClauseType): the team’s decisions live in the same graph as precedents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349240"/>
            <a:ext cx="71323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900" b="0" i="0">
                <a:solidFill>
                  <a:srgbClr val="00695C"/>
                </a:solidFill>
                <a:latin typeface="Menlo"/>
              </a:rPr>
              <a:t>MATCH (c)-[:OF_TYPE]-&gt;()-[:REQUIRES]-&gt;(t) WHERE NOT EXISTS { (c)-[:HAS_CLAUSE]-&gt;()-[:IS_A]-&gt;(t) 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623560"/>
            <a:ext cx="71323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Roboto"/>
              </a:rPr>
              <a:t>“which contracts lack a required clause” — one pattern, no search, no model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1463040"/>
            <a:ext cx="34747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75320" y="1572768"/>
            <a:ext cx="1591056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0695C"/>
                </a:solidFill>
                <a:latin typeface="Roboto"/>
              </a:rPr>
              <a:t>database-first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7888" y="1874520"/>
            <a:ext cx="32461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Seeded from files and registers, not from a model: the guideline (Legal’s file), the taxonomy, GLEIF — the public LEI register records Arvato Payment Solutions GmbH as the previous name of Riverty GmbH — and the team’s decisions.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8160" y="3063240"/>
            <a:ext cx="34747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75320" y="3172968"/>
            <a:ext cx="2688336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0695C"/>
                </a:solidFill>
                <a:latin typeface="Roboto"/>
              </a:rPr>
              <a:t>retrieval inside the graph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3474720"/>
            <a:ext cx="32461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Every clause carries its embedding (768 d, cosine, Cypher SEARCH) and its text (Lucene). Hybrid = reciprocal rank fusion of both; scoped by graph filters.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4663440"/>
            <a:ext cx="34747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275320" y="4773168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0695C"/>
                </a:solidFill>
                <a:latin typeface="Roboto"/>
              </a:rPr>
              <a:t>why not 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47888" y="5074920"/>
            <a:ext cx="32461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Postgres + pgvector (v1–v3): the questions became joins over label tables. Cosmos DB Gremlin: no native vectors. AGE on Azure PostgreSQL: the Microsoft runner-up — swaps in for two modules.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0695C"/>
                </a:solidFill>
                <a:latin typeface="Roboto"/>
              </a:rPr>
              <a:t>CHECK · 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Roboto"/>
              </a:rPr>
              <a:t>Rules for recall, the model for precision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Contract Intelligence · Riverty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Roboto"/>
              </a:rPr>
              <a:t>7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669280" cy="4754880"/>
          </a:xfrm>
          <a:prstGeom prst="roundRect">
            <a:avLst>
              <a:gd name="adj" fmla="val 2307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303520" cy="685800"/>
          </a:xfrm>
          <a:prstGeom prst="roundRect">
            <a:avLst>
              <a:gd name="adj" fmla="val 16000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candidates from the rules</a:t>
            </a:r>
          </a:p>
          <a:p>
            <a:pPr algn="ctr"/>
            <a:r>
              <a:rPr sz="850" b="0" i="0">
                <a:solidFill>
                  <a:srgbClr val="6B6B6B"/>
                </a:solidFill>
                <a:latin typeface="Roboto"/>
              </a:rPr>
              <a:t>required type without a certain clause · active old-name mention — recall 0.95, precision 0.43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0" y="2331720"/>
            <a:ext cx="0" cy="22860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1520" y="256032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read 1 · what the graph selects</a:t>
            </a:r>
          </a:p>
          <a:p>
            <a:pPr algn="ctr"/>
            <a:r>
              <a:rPr sz="850" b="0" i="0">
                <a:solidFill>
                  <a:srgbClr val="6B6B6B"/>
                </a:solidFill>
                <a:latin typeface="Roboto"/>
              </a:rPr>
              <a:t>outline (every clause, type, page) + the 6 most relevant clauses + every clause of the type;
Gemini Pro, thinking high → confirmed | refuted | partial + page + quote + reason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474720"/>
            <a:ext cx="0" cy="22860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86000" y="3703320"/>
            <a:ext cx="2194560" cy="411480"/>
          </a:xfrm>
          <a:prstGeom prst="roundRect">
            <a:avLst>
              <a:gd name="adj" fmla="val 48888"/>
            </a:avLst>
          </a:prstGeom>
          <a:solidFill>
            <a:srgbClr val="FFFFFF"/>
          </a:solidFill>
          <a:ln w="25400"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still “missing”?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913632"/>
            <a:ext cx="1005840" cy="0"/>
          </a:xfrm>
          <a:prstGeom prst="line">
            <a:avLst/>
          </a:prstGeom>
          <a:ln w="1905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0" y="363931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1" i="0">
                <a:solidFill>
                  <a:srgbClr val="00695C"/>
                </a:solidFill>
                <a:latin typeface="Roboto"/>
              </a:rPr>
              <a:t>refuted → present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3280" y="4114800"/>
            <a:ext cx="0" cy="22860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" y="4343400"/>
            <a:ext cx="5303520" cy="640080"/>
          </a:xfrm>
          <a:prstGeom prst="roundRect">
            <a:avLst>
              <a:gd name="adj" fmla="val 17142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read 2 · the whole contract</a:t>
            </a:r>
          </a:p>
          <a:p>
            <a:pPr algn="ctr"/>
            <a:r>
              <a:rPr sz="850" b="0" i="0">
                <a:solidFill>
                  <a:srgbClr val="6B6B6B"/>
                </a:solidFill>
                <a:latin typeface="Roboto"/>
              </a:rPr>
              <a:t>skipped when read 1 already covered ≥ 90 % · the cheap error (a false alarm) is caught here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83280" y="4983480"/>
            <a:ext cx="0" cy="22860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463040" y="5212080"/>
            <a:ext cx="3840480" cy="457200"/>
          </a:xfrm>
          <a:prstGeom prst="roundRect">
            <a:avLst>
              <a:gd name="adj" fmla="val 24000"/>
            </a:avLst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 i="0">
                <a:solidFill>
                  <a:srgbClr val="FFFFFF"/>
                </a:solidFill>
                <a:latin typeface="Roboto"/>
              </a:rPr>
              <a:t>confirmed → the page · precision 1.00 · recall 0.91 (CUAD, 22 absences)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only the verifier may remove a candidate · Pro for verify and handwriting, Flash for labels and drafts, Flash-Lite for screening · Foundry behind the same switch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463040"/>
            <a:ext cx="521208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5361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Roboto"/>
              </a:rPr>
              <a:t>A person decides — the review rate falls with 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86600" y="3703320"/>
            <a:ext cx="4297680" cy="0"/>
          </a:xfrm>
          <a:prstGeom prst="line">
            <a:avLst/>
          </a:prstGeom>
          <a:ln w="19050">
            <a:solidFill>
              <a:srgbClr val="E3E7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86600" y="1965960"/>
            <a:ext cx="0" cy="1737360"/>
          </a:xfrm>
          <a:prstGeom prst="line">
            <a:avLst/>
          </a:prstGeom>
          <a:ln w="19050">
            <a:solidFill>
              <a:srgbClr val="E3E7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92240" y="18470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Roboto"/>
              </a:rPr>
              <a:t>100 %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236976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Roboto"/>
              </a:rPr>
              <a:t>20 %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41071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Roboto"/>
              </a:rPr>
              <a:t>10 %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86600" y="1965960"/>
            <a:ext cx="773582" cy="0"/>
          </a:xfrm>
          <a:prstGeom prst="line">
            <a:avLst/>
          </a:prstGeom>
          <a:ln w="3175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0182" y="1965960"/>
            <a:ext cx="0" cy="1389888"/>
          </a:xfrm>
          <a:prstGeom prst="line">
            <a:avLst/>
          </a:prstGeom>
          <a:ln w="3175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0182" y="3355848"/>
            <a:ext cx="1805026" cy="0"/>
          </a:xfrm>
          <a:prstGeom prst="line">
            <a:avLst/>
          </a:prstGeom>
          <a:ln w="3175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665208" y="3355848"/>
            <a:ext cx="0" cy="173736"/>
          </a:xfrm>
          <a:prstGeom prst="line">
            <a:avLst/>
          </a:prstGeom>
          <a:ln w="3175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665208" y="3529584"/>
            <a:ext cx="1074420" cy="0"/>
          </a:xfrm>
          <a:prstGeom prst="line">
            <a:avLst/>
          </a:prstGeom>
          <a:ln w="3175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0739628" y="1965960"/>
            <a:ext cx="0" cy="1563624"/>
          </a:xfrm>
          <a:prstGeom prst="line">
            <a:avLst/>
          </a:prstGeom>
          <a:ln w="3175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739628" y="1965960"/>
            <a:ext cx="644652" cy="0"/>
          </a:xfrm>
          <a:prstGeom prst="line">
            <a:avLst/>
          </a:prstGeom>
          <a:ln w="31750">
            <a:solidFill>
              <a:srgbClr val="006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37222" y="3749039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8 agreeing · ≥ 95 %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42248" y="3749039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24 in a row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16668" y="3749039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a dismissal → reset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4069080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6B6B6B"/>
                </a:solidFill>
                <a:latin typeface="Roboto"/>
              </a:rPr>
              <a:t>deterministic spot checks (SHA-256), at least one per contract; only cross-checked findings are automated; decisions carry over per file and become precedents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4709160"/>
            <a:ext cx="251460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0528" y="4754880"/>
            <a:ext cx="2286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a false alarm, reviewed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0528" y="49834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Roboto"/>
              </a:rPr>
              <a:t>€4.50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534924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3 minutes on the page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98280" y="4709160"/>
            <a:ext cx="251460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8008" y="4754880"/>
            <a:ext cx="2286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a false edit, filed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08008" y="49834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D32F2F"/>
                </a:solidFill>
                <a:latin typeface="Roboto"/>
              </a:rPr>
              <a:t>€1k–100k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8008" y="534924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rework, dispute — a document with legal effect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0695C"/>
                </a:solidFill>
                <a:latin typeface="Roboto"/>
              </a:rPr>
              <a:t>THE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Roboto"/>
              </a:rPr>
              <a:t>Three steps — the PDF is the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Contract Intelligence · Riverty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Roboto"/>
              </a:rPr>
              <a:t>8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499616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0695C"/>
                </a:solidFill>
                <a:latin typeface="Roboto"/>
              </a:rPr>
              <a:t>1 · Hochladen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drop one or many · one result line each · a filter for “which contracts lack X”</a:t>
            </a:r>
          </a:p>
        </p:txBody>
      </p:sp>
      <p:pic>
        <p:nvPicPr>
          <p:cNvPr id="8" name="Picture 7" descr="01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3108960" cy="25603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840480" y="1417320"/>
            <a:ext cx="1225296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0695C"/>
                </a:solidFill>
                <a:latin typeface="Roboto"/>
              </a:rPr>
              <a:t>2 · Prüfen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691640"/>
            <a:ext cx="4480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markers on the page · one finding at a time · Übernehmen / Nicht zutreffend</a:t>
            </a:r>
          </a:p>
        </p:txBody>
      </p:sp>
      <p:pic>
        <p:nvPicPr>
          <p:cNvPr id="11" name="Picture 10" descr="02-contrac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2148840"/>
            <a:ext cx="4480560" cy="25603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503920" y="1417320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0695C"/>
                </a:solidFill>
                <a:latin typeface="Roboto"/>
              </a:rPr>
              <a:t>3 · Herunterladen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69164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what was applied · the copy · preview · filing</a:t>
            </a:r>
          </a:p>
        </p:txBody>
      </p:sp>
      <p:pic>
        <p:nvPicPr>
          <p:cNvPr id="14" name="Picture 13" descr="02b-downloa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48840"/>
            <a:ext cx="3108960" cy="25603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493776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001768"/>
            <a:ext cx="33375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Roboto"/>
              </a:rPr>
              <a:t>Why one finding at a time.</a:t>
            </a:r>
          </a:p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The only clicks are decisions; a decision moves on; the marker on the page is verified with a glance — a list would send the lawyer back into the PDF.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493776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7407" y="5001768"/>
            <a:ext cx="33375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Roboto"/>
              </a:rPr>
              <a:t>Why no numbers for lawyers.</a:t>
            </a:r>
          </a:p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No confidences, no traces on these pages — quote, reason, marker, and whether it was cross-checked. German first, English one click.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493776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7" y="5001768"/>
            <a:ext cx="33375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Roboto"/>
              </a:rPr>
              <a:t>Why a Technik page.</a:t>
            </a:r>
          </a:p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Engineers get the same 14 stages with module, model, thresholds, the graph’s live counts and a trace of one contract — generated, so it cannot drift.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0695C"/>
                </a:solidFill>
                <a:latin typeface="Roboto"/>
              </a:rPr>
              <a:t>INFRASTRUCTURE · THE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Roboto"/>
              </a:rPr>
              <a:t>Azure — and the statement, checked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Contract Intelligence · Riverty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Roboto"/>
              </a:rPr>
              <a:t>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2307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286000" y="1691640"/>
            <a:ext cx="4434840" cy="4343400"/>
          </a:xfrm>
          <a:prstGeom prst="roundRect">
            <a:avLst>
              <a:gd name="adj" fmla="val 3157"/>
            </a:avLst>
          </a:prstGeom>
          <a:solidFill>
            <a:srgbClr val="FFFFFF"/>
          </a:solidFill>
          <a:ln w="12700">
            <a:solidFill>
              <a:srgbClr val="0069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737360"/>
            <a:ext cx="4434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00" b="1" i="0">
                <a:solidFill>
                  <a:srgbClr val="00695C"/>
                </a:solidFill>
                <a:latin typeface="Roboto"/>
              </a:rPr>
              <a:t>Azure · Container Apps · Terraform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12121"/>
                </a:solidFill>
                <a:latin typeface="Roboto"/>
              </a:rPr>
              <a:t>SharePoint</a:t>
            </a:r>
          </a:p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Graph delta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03120" y="2670048"/>
            <a:ext cx="41148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14600" y="2194560"/>
            <a:ext cx="1737360" cy="914400"/>
          </a:xfrm>
          <a:prstGeom prst="roundRect">
            <a:avLst>
              <a:gd name="adj" fmla="val 12000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API</a:t>
            </a:r>
          </a:p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FastAPI · LangGraph
internal ingress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3520440"/>
            <a:ext cx="1737360" cy="731520"/>
          </a:xfrm>
          <a:prstGeom prst="roundRect">
            <a:avLst>
              <a:gd name="adj" fmla="val 15000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Web</a:t>
            </a:r>
          </a:p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React · Entra ID sign-in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3383280" y="3108960"/>
            <a:ext cx="0" cy="41148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754880" y="2194560"/>
            <a:ext cx="1737360" cy="914400"/>
          </a:xfrm>
          <a:prstGeom prst="roundRect">
            <a:avLst>
              <a:gd name="adj" fmla="val 12000"/>
            </a:avLst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Roboto"/>
              </a:rPr>
              <a:t>Neo4j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Roboto"/>
              </a:rPr>
              <a:t>AuraDB (Marketplace)
or the container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51960" y="2651760"/>
            <a:ext cx="50292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754880" y="3337560"/>
            <a:ext cx="173736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 i="0">
                <a:solidFill>
                  <a:srgbClr val="212121"/>
                </a:solidFill>
                <a:latin typeface="Roboto"/>
              </a:rPr>
              <a:t>Blob · working copies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904487"/>
            <a:ext cx="173736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 i="0">
                <a:solidFill>
                  <a:srgbClr val="212121"/>
                </a:solidFill>
                <a:latin typeface="Roboto"/>
              </a:rPr>
              <a:t>Key Vault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471416"/>
            <a:ext cx="173736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 i="0">
                <a:solidFill>
                  <a:srgbClr val="212121"/>
                </a:solidFill>
                <a:latin typeface="Roboto"/>
              </a:rPr>
              <a:t>Log Analytics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0" y="5038344"/>
            <a:ext cx="173736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 i="0">
                <a:solidFill>
                  <a:srgbClr val="212121"/>
                </a:solidFill>
                <a:latin typeface="Roboto"/>
              </a:rPr>
              <a:t>Document Intelligence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26280" y="3108960"/>
            <a:ext cx="0" cy="2157984"/>
          </a:xfrm>
          <a:prstGeom prst="line">
            <a:avLst/>
          </a:prstGeom>
          <a:ln w="12700">
            <a:solidFill>
              <a:srgbClr val="B0BE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51960" y="2880360"/>
            <a:ext cx="274320" cy="0"/>
          </a:xfrm>
          <a:prstGeom prst="line">
            <a:avLst/>
          </a:prstGeom>
          <a:ln w="12700">
            <a:solidFill>
              <a:srgbClr val="B0BE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26280" y="3566160"/>
            <a:ext cx="228600" cy="0"/>
          </a:xfrm>
          <a:prstGeom prst="line">
            <a:avLst/>
          </a:prstGeom>
          <a:ln w="1270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4133087"/>
            <a:ext cx="228600" cy="0"/>
          </a:xfrm>
          <a:prstGeom prst="line">
            <a:avLst/>
          </a:prstGeom>
          <a:ln w="1270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26280" y="4700016"/>
            <a:ext cx="228600" cy="0"/>
          </a:xfrm>
          <a:prstGeom prst="line">
            <a:avLst/>
          </a:prstGeom>
          <a:ln w="1270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26280" y="5266944"/>
            <a:ext cx="228600" cy="0"/>
          </a:xfrm>
          <a:prstGeom prst="line">
            <a:avLst/>
          </a:prstGeom>
          <a:ln w="1270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1520" y="352044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12121"/>
                </a:solidFill>
                <a:latin typeface="Roboto"/>
              </a:rPr>
              <a:t>Gemini</a:t>
            </a:r>
          </a:p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Vertex · EU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34340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12121"/>
                </a:solidFill>
                <a:latin typeface="Roboto"/>
              </a:rPr>
              <a:t>Foundry</a:t>
            </a:r>
          </a:p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GPT-5 · Data Zone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16636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212121"/>
                </a:solidFill>
                <a:latin typeface="Roboto"/>
              </a:rPr>
              <a:t>Contract storage</a:t>
            </a:r>
          </a:p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Idempotency-Key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920240" y="3017520"/>
            <a:ext cx="0" cy="2377440"/>
          </a:xfrm>
          <a:prstGeom prst="line">
            <a:avLst/>
          </a:prstGeom>
          <a:ln w="12700">
            <a:solidFill>
              <a:srgbClr val="B0BE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920240" y="3017520"/>
            <a:ext cx="594360" cy="0"/>
          </a:xfrm>
          <a:prstGeom prst="line">
            <a:avLst/>
          </a:prstGeom>
          <a:ln w="12700">
            <a:solidFill>
              <a:srgbClr val="B0BE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920240" y="3858768"/>
            <a:ext cx="182880" cy="0"/>
          </a:xfrm>
          <a:prstGeom prst="line">
            <a:avLst/>
          </a:prstGeom>
          <a:ln w="1270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20240" y="4681728"/>
            <a:ext cx="182880" cy="0"/>
          </a:xfrm>
          <a:prstGeom prst="line">
            <a:avLst/>
          </a:prstGeom>
          <a:ln w="1270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920240" y="5504688"/>
            <a:ext cx="182880" cy="0"/>
          </a:xfrm>
          <a:prstGeom prst="line">
            <a:avLst/>
          </a:prstGeom>
          <a:ln w="1270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331720" y="576072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Roboto"/>
              </a:rPr>
              <a:t>documents never leave the tenant; only the checked contract’s pages go to the model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40880" y="1463040"/>
            <a:ext cx="4572000" cy="475488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78040" y="1536192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Roboto"/>
              </a:rPr>
              <a:t>Against the problem statement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23760" y="192024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E7D32"/>
                </a:solidFill>
                <a:latin typeface="Roboto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1892808"/>
            <a:ext cx="3886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basic pipeline · front-end · end-to-end workflow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23760" y="237744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E7D32"/>
                </a:solidFill>
                <a:latin typeface="Roboto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2350008"/>
            <a:ext cx="3886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contracts without a passage · old company name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23760" y="283464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E7D32"/>
                </a:solidFill>
                <a:latin typeface="Roboto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2807208"/>
            <a:ext cx="3886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scans and handwritten JPEGs · Tesseract → vision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23760" y="329184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E7D32"/>
                </a:solidFill>
                <a:latin typeface="Roboto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5240" y="3264408"/>
            <a:ext cx="3886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best-of-breed vs Microsoft: one switch each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223760" y="3749039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2E7D32"/>
                </a:solidFill>
                <a:latin typeface="Roboto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5240" y="3721607"/>
            <a:ext cx="3886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Azure · Foundry/Gemini · containers · FastAPI · Terraform · React/TS · LangChain/LangGraph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23760" y="420624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ED6C02"/>
                </a:solidFill>
                <a:latin typeface="Roboto"/>
              </a:rPr>
              <a:t>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5240" y="4178807"/>
            <a:ext cx="3886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SharePoint: Graph delta sync written, not run against a tenant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23760" y="466344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ED6C02"/>
                </a:solidFill>
                <a:latin typeface="Roboto"/>
              </a:rPr>
              <a:t>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35240" y="4636007"/>
            <a:ext cx="3886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contract storage: idempotent filing, mocked API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23760" y="512064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ED6C02"/>
                </a:solidFill>
                <a:latin typeface="Roboto"/>
              </a:rPr>
              <a:t>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5093207"/>
            <a:ext cx="3886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Roboto"/>
              </a:rPr>
              <a:t>guidelines · best interests: guideline file, drafts, no playbook yet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78040" y="5623560"/>
            <a:ext cx="4297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Roboto"/>
              </a:rPr>
              <a:t>Switches: LLM gemini | foundry · OCR tesseract | document_intelligence · source folder | sharepoint · database Neo4j | AGE + pgvector on Azure PostgreSQL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0695C"/>
                </a:solidFill>
                <a:latin typeface="Roboto"/>
              </a:rPr>
              <a:t>ADOPTION ·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Roboto"/>
              </a:rPr>
              <a:t>Adoption — then five minutes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Roboto"/>
              </a:rPr>
              <a:t>Contract Intelligence · Riverty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Roboto"/>
              </a:rPr>
              <a:t>10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560320" cy="960120"/>
          </a:xfrm>
          <a:prstGeom prst="roundRect">
            <a:avLst>
              <a:gd name="adj" fmla="val 11428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1 · Pilot on the next sweep</a:t>
            </a:r>
          </a:p>
          <a:p>
            <a:pPr algn="ctr"/>
            <a:r>
              <a:rPr sz="850" b="0" i="0">
                <a:solidFill>
                  <a:srgbClr val="6B6B6B"/>
                </a:solidFill>
                <a:latin typeface="Roboto"/>
              </a:rPr>
              <a:t>the bank rename, two lawyers, measured against the manual sample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1938528"/>
            <a:ext cx="27432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1463040"/>
            <a:ext cx="2560320" cy="960120"/>
          </a:xfrm>
          <a:prstGeom prst="roundRect">
            <a:avLst>
              <a:gd name="adj" fmla="val 11428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2 · Legal owns the rules</a:t>
            </a:r>
          </a:p>
          <a:p>
            <a:pPr algn="ctr"/>
            <a:r>
              <a:rPr sz="850" b="0" i="0">
                <a:solidFill>
                  <a:srgbClr val="6B6B6B"/>
                </a:solidFill>
                <a:latin typeface="Roboto"/>
              </a:rPr>
              <a:t>the guideline file, the register, the clause types — no engineer needed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0" y="1938528"/>
            <a:ext cx="27432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17920" y="1463040"/>
            <a:ext cx="2560320" cy="960120"/>
          </a:xfrm>
          <a:prstGeom prst="roundRect">
            <a:avLst>
              <a:gd name="adj" fmla="val 11428"/>
            </a:avLst>
          </a:prstGeom>
          <a:solidFill>
            <a:srgbClr val="E0F2F1"/>
          </a:solidFill>
          <a:ln w="1270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121"/>
                </a:solidFill>
                <a:latin typeface="Roboto"/>
              </a:rPr>
              <a:t>3 · Decide on the page</a:t>
            </a:r>
          </a:p>
          <a:p>
            <a:pPr algn="ctr"/>
            <a:r>
              <a:rPr sz="850" b="0" i="0">
                <a:solidFill>
                  <a:srgbClr val="6B6B6B"/>
                </a:solidFill>
                <a:latin typeface="Roboto"/>
              </a:rPr>
              <a:t>every decision teaches: precedents, the review rate as the trust meter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78240" y="1938528"/>
            <a:ext cx="274320" cy="0"/>
          </a:xfrm>
          <a:prstGeom prst="line">
            <a:avLst/>
          </a:prstGeom>
          <a:ln w="1905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60" y="1463040"/>
            <a:ext cx="2560320" cy="960120"/>
          </a:xfrm>
          <a:prstGeom prst="roundRect">
            <a:avLst>
              <a:gd name="adj" fmla="val 11428"/>
            </a:avLst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Roboto"/>
              </a:rPr>
              <a:t>4 · Routine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Roboto"/>
              </a:rPr>
              <a:t>sweeps on events, the daily flow, spot checks, the corrected copy filed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0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6B6B6B"/>
                </a:solidFill>
                <a:latin typeface="Roboto"/>
              </a:rPr>
              <a:t>trust: the original is never touched, every decision is a named person’s, the audit log answers who accepted what · learning: So funktioniert es and Technik, generated from the code · measure: minutes per contract, review rate per class, precision/recall against the answer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00400"/>
            <a:ext cx="64008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3552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Roboto"/>
              </a:rPr>
              <a:t>Six beats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1188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00695C"/>
                </a:solidFill>
                <a:latin typeface="Roboto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84448"/>
            <a:ext cx="566928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Roboto"/>
              </a:rPr>
              <a:t>drop a contract → “Wird gelesen … Wird geprüft …” → the result 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14216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00695C"/>
                </a:solidFill>
                <a:latin typeface="Roboto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86784"/>
            <a:ext cx="566928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Roboto"/>
              </a:rPr>
              <a:t>open it: the box on the page, the quote, the model’s reason, Übernehmen / Nicht zutreffend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416552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00695C"/>
                </a:solidFill>
                <a:latin typeface="Robot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389120"/>
            <a:ext cx="566928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Roboto"/>
              </a:rPr>
              <a:t>Weiter zum Download: the corrected copy, the preview, filing under an idempotency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818888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00695C"/>
                </a:solidFill>
                <a:latin typeface="Robot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791456"/>
            <a:ext cx="566928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Roboto"/>
              </a:rPr>
              <a:t>the start page filter: which contracts lack a limitation of liability?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221224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00695C"/>
                </a:solidFill>
                <a:latin typeface="Roboto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193792"/>
            <a:ext cx="566928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Roboto"/>
              </a:rPr>
              <a:t>Technik: the stages with their models, the graph’s live counts, the gap query, a trace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62356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00695C"/>
                </a:solidFill>
                <a:latin typeface="Roboto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596128"/>
            <a:ext cx="566928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Roboto"/>
              </a:rPr>
              <a:t>the Neo4j browser: the contract as a graph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0" y="3200400"/>
            <a:ext cx="4480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3273552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Roboto"/>
              </a:rPr>
              <a:t>Next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3611880"/>
            <a:ext cx="420624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Roboto"/>
              </a:rPr>
              <a:t>· SharePoint against the real tenant</a:t>
            </a:r>
          </a:p>
          <a:p>
            <a:pPr algn="l"/>
            <a:r>
              <a:rPr sz="1000" b="0" i="0">
                <a:solidFill>
                  <a:srgbClr val="212121"/>
                </a:solidFill>
                <a:latin typeface="Roboto"/>
              </a:rPr>
              <a:t>· the contract storage’s real API — an adapter</a:t>
            </a:r>
          </a:p>
          <a:p>
            <a:pPr algn="l"/>
            <a:r>
              <a:rPr sz="1000" b="0" i="0">
                <a:solidFill>
                  <a:srgbClr val="212121"/>
                </a:solidFill>
                <a:latin typeface="Roboto"/>
              </a:rPr>
              <a:t>· Entra ID sign-in, structured logging, metrics</a:t>
            </a:r>
          </a:p>
          <a:p>
            <a:pPr algn="l"/>
            <a:r>
              <a:rPr sz="1000" b="0" i="0">
                <a:solidFill>
                  <a:srgbClr val="212121"/>
                </a:solidFill>
                <a:latin typeface="Roboto"/>
              </a:rPr>
              <a:t>· a playbook of preferred positions for the drafts</a:t>
            </a:r>
          </a:p>
          <a:p>
            <a:pPr algn="l"/>
            <a:r>
              <a:rPr sz="1000" b="0" i="0">
                <a:solidFill>
                  <a:srgbClr val="212121"/>
                </a:solidFill>
                <a:latin typeface="Roboto"/>
              </a:rPr>
              <a:t>· parallel ingestion behind a queue for sweeps</a:t>
            </a:r>
          </a:p>
          <a:p>
            <a:pPr algn="l"/>
            <a:r>
              <a:rPr sz="1000" b="0" i="0">
                <a:solidFill>
                  <a:srgbClr val="212121"/>
                </a:solidFill>
                <a:latin typeface="Roboto"/>
              </a:rPr>
              <a:t>· a pairwise “compare two contracts” 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566928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Roboto"/>
              </a:rPr>
              <a:t>docs/architecture-decisions.md · docs/cost-benefit.md · docs/ps-coverage.md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